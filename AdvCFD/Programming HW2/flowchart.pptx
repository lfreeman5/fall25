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D631-38BB-BB11-B359-DDF7A401F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744BA8-4B9E-B0CA-1EF7-96D6D27B7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37716-6EC0-9E04-DD89-5395FCF0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25EC-0EA4-47B2-91D2-B7E9873CB01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F8F53-76A6-6B24-787C-10DB84500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A4343-3735-8946-1E55-297B87A2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3D-BB7D-45FD-A4D0-B3487C3D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83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76487-09DC-BF33-F68D-F60E18D88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43D62-6CE4-ABCB-1CBC-95F7E80D1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FD4A3-70C2-A4DE-DB68-332B01110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25EC-0EA4-47B2-91D2-B7E9873CB01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EE7E6-B55B-1871-06EB-A2519288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97076-679D-CD33-E5DD-54D09880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3D-BB7D-45FD-A4D0-B3487C3D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17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6A13-FA1A-E93E-75B6-6CDCD7622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829FE-4809-0904-0DA6-0ACD54A4C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7A3B1-3319-84F5-88BE-158569C5E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25EC-0EA4-47B2-91D2-B7E9873CB01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F5A39-2F25-ED22-A7FF-7C116B689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B5C08-89EC-6EB3-31E6-E5FE30231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3D-BB7D-45FD-A4D0-B3487C3D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0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4B863-7B6E-0C81-499F-FB6E1756A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CC55F-E2B2-45FE-FC19-40D48644A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40647-B77A-5AC9-7ED6-9488A81124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F3FD1-5D0B-1C37-273A-B4EBC9573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25EC-0EA4-47B2-91D2-B7E9873CB01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3D863-9808-6B9C-0F06-8DBDB48B1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4CC03-8DAD-286E-2A2F-E32806B7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3D-BB7D-45FD-A4D0-B3487C3D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54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67299-D0BF-4B41-D336-3BFBA9748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45CAA-9E60-07E8-4469-E3283E1BA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7F237-5A09-285A-3BB8-FE8B864EA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0EA646-6CA0-0076-D406-41BE8668B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061D8C-8CEB-9BC5-23CA-0FFA65C8E9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88F7B6-E64A-F7EF-9009-63E36B88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25EC-0EA4-47B2-91D2-B7E9873CB01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F8D85D-ADE4-39C2-79D6-A16746A6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776511-ED00-78C9-F7C6-154A0032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3D-BB7D-45FD-A4D0-B3487C3D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02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6525B-AC32-D75D-3B52-10165686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CCB820-2A33-B26C-E0E0-01D34D9DA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25EC-0EA4-47B2-91D2-B7E9873CB01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853D91-1277-114D-8D67-3471F3CC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95E87-B454-8DC5-97C1-1F2C0E84C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3D-BB7D-45FD-A4D0-B3487C3D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582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B59457-D5F1-4ADF-363A-811263D6D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25EC-0EA4-47B2-91D2-B7E9873CB01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68D46-D7C0-A388-9E20-88803C3F1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7D765-A6F0-4DB4-4634-45E0F219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3D-BB7D-45FD-A4D0-B3487C3D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94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27D9E-BB17-9688-2346-17A89DAC2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EB210-8C69-7F85-943F-DF8088C0C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B6FAA-0554-BA88-FBA7-7CE828134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EC14B-55DA-9A93-52FC-A408F07A7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25EC-0EA4-47B2-91D2-B7E9873CB01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04D41-E9FA-A3E6-839E-1ED0996B8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340BD-F306-3722-193A-76185FE0C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3D-BB7D-45FD-A4D0-B3487C3D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39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DD251-257A-CED4-D2D9-287404F6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B5AFE5-30F2-A260-E8EB-5A0732508E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FDF97-C2DF-CCAD-40F0-3FA452F1A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2DA1B-8450-7480-BFF0-F9E4A2117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25EC-0EA4-47B2-91D2-B7E9873CB01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19AFB-565D-B19B-167E-EE69C94A8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47949-B615-358A-37DA-BD51B4DF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3D-BB7D-45FD-A4D0-B3487C3D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54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85F86-5FAA-C09E-21B5-8742DFCA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9F135-BCFB-34CF-04EA-11CCCAF34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D2A1D-C5B1-FA04-2CFD-29175F530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25EC-0EA4-47B2-91D2-B7E9873CB01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1906F-FD9F-C0C1-3FBE-8AED71E0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78BD4-61FA-9275-6501-8075032AD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3D-BB7D-45FD-A4D0-B3487C3D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36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43A7C9-F70E-89C8-4D49-2B41E3C4D4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88EEEC-654B-116D-0C12-F06112024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DD550-A8EA-791A-075C-1A1FD25F8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25EC-0EA4-47B2-91D2-B7E9873CB01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D6EA6-E2AA-B849-68A1-54795436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3DFB6-4555-E4E6-8DDE-1E5E51D13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3903D-BB7D-45FD-A4D0-B3487C3D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4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CC2E0B-9491-565A-37A9-784737DB9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4DC05-76B0-EC08-243E-072BA3F12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BC4A7-74A0-9D3C-56CB-530A9083AD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9525EC-0EA4-47B2-91D2-B7E9873CB012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2280F-9F6C-E6FD-89B5-8FD252F00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2CBD2-4B6E-9B69-ED3C-4AA8A6302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3903D-BB7D-45FD-A4D0-B3487C3D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5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3EF38CA-39CE-28A0-51D5-33931B37FE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21763" y="110602"/>
                <a:ext cx="6213049" cy="315912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sz="2000" dirty="0"/>
                  <a:t>Flowchart explaining ck4_0.m – convection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−1,1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3EF38CA-39CE-28A0-51D5-33931B37FE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21763" y="110602"/>
                <a:ext cx="6213049" cy="315912"/>
              </a:xfrm>
              <a:blipFill>
                <a:blip r:embed="rId2"/>
                <a:stretch>
                  <a:fillRect l="-883" t="-19231" b="-36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74C57ADE-D662-60A0-D0F6-3E61682018AD}"/>
              </a:ext>
            </a:extLst>
          </p:cNvPr>
          <p:cNvGrpSpPr/>
          <p:nvPr/>
        </p:nvGrpSpPr>
        <p:grpSpPr>
          <a:xfrm>
            <a:off x="838590" y="761355"/>
            <a:ext cx="3987933" cy="1055433"/>
            <a:chOff x="301658" y="669303"/>
            <a:chExt cx="2559419" cy="161582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395583D-7BD9-32A9-A944-54E274867051}"/>
                </a:ext>
              </a:extLst>
            </p:cNvPr>
            <p:cNvSpPr txBox="1"/>
            <p:nvPr/>
          </p:nvSpPr>
          <p:spPr>
            <a:xfrm>
              <a:off x="301658" y="669303"/>
              <a:ext cx="1800519" cy="161582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100" dirty="0"/>
                <a:t>Set polynomial order N, assemble SEM matrices with </a:t>
              </a:r>
              <a:r>
                <a:rPr lang="en-US" sz="1100" dirty="0" err="1"/>
                <a:t>semhat.m</a:t>
              </a:r>
              <a:r>
                <a:rPr lang="en-US" sz="1100" dirty="0"/>
                <a:t>. B is mass, D is derivative, A is diffusion, Ch is convection. Matrices assembled on N GLL points. Also returns GLL points and weights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97DCDAD-31FA-DD56-4E99-3D3406F8AEDF}"/>
                </a:ext>
              </a:extLst>
            </p:cNvPr>
            <p:cNvCxnSpPr>
              <a:cxnSpLocks/>
              <a:stCxn id="4" idx="3"/>
              <a:endCxn id="11" idx="1"/>
            </p:cNvCxnSpPr>
            <p:nvPr/>
          </p:nvCxnSpPr>
          <p:spPr>
            <a:xfrm flipV="1">
              <a:off x="2102177" y="1415953"/>
              <a:ext cx="758900" cy="612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1AD704-284E-340C-132C-A15303E6990B}"/>
              </a:ext>
            </a:extLst>
          </p:cNvPr>
          <p:cNvGrpSpPr/>
          <p:nvPr/>
        </p:nvGrpSpPr>
        <p:grpSpPr>
          <a:xfrm>
            <a:off x="4826524" y="948973"/>
            <a:ext cx="3016575" cy="600164"/>
            <a:chOff x="-697187" y="526335"/>
            <a:chExt cx="3016575" cy="60016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9470AC2-C7C6-BA81-9171-888666CDD2FC}"/>
                </a:ext>
              </a:extLst>
            </p:cNvPr>
            <p:cNvSpPr txBox="1"/>
            <p:nvPr/>
          </p:nvSpPr>
          <p:spPr>
            <a:xfrm>
              <a:off x="-697187" y="526335"/>
              <a:ext cx="1800519" cy="6001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100" dirty="0"/>
                <a:t>Create restriction matrices Rx, Ry to enforce Dirichlet BCs.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7FEA4B0-53CF-5EA1-0768-C55F996CBA4F}"/>
                </a:ext>
              </a:extLst>
            </p:cNvPr>
            <p:cNvCxnSpPr>
              <a:cxnSpLocks/>
              <a:stCxn id="11" idx="3"/>
              <a:endCxn id="14" idx="1"/>
            </p:cNvCxnSpPr>
            <p:nvPr/>
          </p:nvCxnSpPr>
          <p:spPr>
            <a:xfrm flipV="1">
              <a:off x="1103332" y="817778"/>
              <a:ext cx="1216056" cy="86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F617ACB-4DB9-A690-4348-CAB6696D980D}"/>
              </a:ext>
            </a:extLst>
          </p:cNvPr>
          <p:cNvSpPr txBox="1"/>
          <p:nvPr/>
        </p:nvSpPr>
        <p:spPr>
          <a:xfrm>
            <a:off x="7715440" y="792558"/>
            <a:ext cx="1800519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Assemble J, interpolation matrices on N-1 GLL points. Create advection field </a:t>
            </a:r>
            <a:r>
              <a:rPr lang="en-US" sz="1100" dirty="0" err="1"/>
              <a:t>Cx</a:t>
            </a:r>
            <a:r>
              <a:rPr lang="en-US" sz="1100" dirty="0"/>
              <a:t>, Cy.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DCFD574-40D8-5CEC-CC9F-2A65DBF1D70D}"/>
              </a:ext>
            </a:extLst>
          </p:cNvPr>
          <p:cNvGrpSpPr/>
          <p:nvPr/>
        </p:nvGrpSpPr>
        <p:grpSpPr>
          <a:xfrm>
            <a:off x="1279004" y="2781256"/>
            <a:ext cx="3759032" cy="1348318"/>
            <a:chOff x="939641" y="669303"/>
            <a:chExt cx="3759032" cy="134831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1CFF9EB-72EF-43C3-D178-8B2CBC339C4D}"/>
                    </a:ext>
                  </a:extLst>
                </p:cNvPr>
                <p:cNvSpPr txBox="1"/>
                <p:nvPr/>
              </p:nvSpPr>
              <p:spPr>
                <a:xfrm>
                  <a:off x="939641" y="669303"/>
                  <a:ext cx="1800519" cy="1348318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sz="1100" dirty="0"/>
                    <a:t>Compute maximum timestep using CFL constraint. </a:t>
                  </a:r>
                  <a:r>
                    <a:rPr lang="en-US" sz="1100" dirty="0" err="1"/>
                    <a:t>dX</a:t>
                  </a:r>
                  <a:r>
                    <a:rPr lang="en-US" sz="1100" dirty="0"/>
                    <a:t>, </a:t>
                  </a:r>
                  <a:r>
                    <a:rPr lang="en-US" sz="1100" dirty="0" err="1"/>
                    <a:t>dY</a:t>
                  </a:r>
                  <a:r>
                    <a:rPr lang="en-US" sz="1100" dirty="0"/>
                    <a:t>, </a:t>
                  </a:r>
                  <a:r>
                    <a:rPr lang="en-US" sz="1100" dirty="0" err="1"/>
                    <a:t>dUdx</a:t>
                  </a:r>
                  <a:r>
                    <a:rPr lang="en-US" sz="1100" dirty="0"/>
                    <a:t>, </a:t>
                  </a:r>
                  <a:r>
                    <a:rPr lang="en-US" sz="1100" dirty="0" err="1"/>
                    <a:t>dUdy</a:t>
                  </a:r>
                  <a:r>
                    <a:rPr lang="en-US" sz="1100" dirty="0"/>
                    <a:t>, are all used exclusively for computing dt. Set dt and number of timesteps </a:t>
                  </a:r>
                  <a14:m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a14:m>
                  <a:r>
                    <a:rPr lang="en-US" sz="1100" dirty="0"/>
                    <a:t> </a:t>
                  </a: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1CFF9EB-72EF-43C3-D178-8B2CBC339C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641" y="669303"/>
                  <a:ext cx="1800519" cy="134831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E750808-6D7C-9A05-12CE-D451BE83B44A}"/>
                </a:ext>
              </a:extLst>
            </p:cNvPr>
            <p:cNvCxnSpPr>
              <a:cxnSpLocks/>
              <a:stCxn id="19" idx="3"/>
              <a:endCxn id="22" idx="1"/>
            </p:cNvCxnSpPr>
            <p:nvPr/>
          </p:nvCxnSpPr>
          <p:spPr>
            <a:xfrm flipV="1">
              <a:off x="2740160" y="1305945"/>
              <a:ext cx="1958513" cy="375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4239189-54C5-C624-1F5F-805F655CB6CB}"/>
              </a:ext>
            </a:extLst>
          </p:cNvPr>
          <p:cNvGrpSpPr/>
          <p:nvPr/>
        </p:nvGrpSpPr>
        <p:grpSpPr>
          <a:xfrm>
            <a:off x="5038036" y="3117816"/>
            <a:ext cx="5156456" cy="600164"/>
            <a:chOff x="301658" y="669303"/>
            <a:chExt cx="5156456" cy="60016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7786A47-CCE3-2C9B-D60D-300269C348BC}"/>
                    </a:ext>
                  </a:extLst>
                </p:cNvPr>
                <p:cNvSpPr txBox="1"/>
                <p:nvPr/>
              </p:nvSpPr>
              <p:spPr>
                <a:xfrm>
                  <a:off x="301658" y="669303"/>
                  <a:ext cx="1800519" cy="600164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sz="1100" dirty="0"/>
                    <a:t>Create initial data with Gaussian pulse at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0.5,0</m:t>
                          </m:r>
                        </m:e>
                      </m:d>
                    </m:oMath>
                  </a14:m>
                  <a:endParaRPr lang="en-US" sz="1100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7786A47-CCE3-2C9B-D60D-300269C348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658" y="669303"/>
                  <a:ext cx="1800519" cy="60016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5240F19-AA58-48EE-B8DF-830DB941110E}"/>
                </a:ext>
              </a:extLst>
            </p:cNvPr>
            <p:cNvCxnSpPr>
              <a:cxnSpLocks/>
              <a:stCxn id="22" idx="3"/>
              <a:endCxn id="26" idx="1"/>
            </p:cNvCxnSpPr>
            <p:nvPr/>
          </p:nvCxnSpPr>
          <p:spPr>
            <a:xfrm>
              <a:off x="2102177" y="969385"/>
              <a:ext cx="3355937" cy="1673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DB8569C9-41B5-1325-F71F-B2E8B09DA173}"/>
              </a:ext>
            </a:extLst>
          </p:cNvPr>
          <p:cNvSpPr txBox="1"/>
          <p:nvPr/>
        </p:nvSpPr>
        <p:spPr>
          <a:xfrm>
            <a:off x="8955062" y="2875002"/>
            <a:ext cx="1800519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Loop over each timestep. Advance in time using RK4 time integration (k1,k2,k3,k4,U1,U2,U3 are used in computing each RK4 timestep)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E118B1-B405-51DC-501B-A735BC42DCC9}"/>
              </a:ext>
            </a:extLst>
          </p:cNvPr>
          <p:cNvSpPr txBox="1"/>
          <p:nvPr/>
        </p:nvSpPr>
        <p:spPr>
          <a:xfrm>
            <a:off x="838590" y="5044692"/>
            <a:ext cx="1800519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Optionally, plot solution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1E6AD5F4-104F-0119-1977-BA1A605864B1}"/>
              </a:ext>
            </a:extLst>
          </p:cNvPr>
          <p:cNvCxnSpPr>
            <a:stCxn id="14" idx="3"/>
            <a:endCxn id="19" idx="1"/>
          </p:cNvCxnSpPr>
          <p:nvPr/>
        </p:nvCxnSpPr>
        <p:spPr>
          <a:xfrm flipH="1">
            <a:off x="1279004" y="1177279"/>
            <a:ext cx="8236955" cy="2278136"/>
          </a:xfrm>
          <a:prstGeom prst="bentConnector5">
            <a:avLst>
              <a:gd name="adj1" fmla="val -2775"/>
              <a:gd name="adj2" fmla="val 43647"/>
              <a:gd name="adj3" fmla="val 10277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865F3D1-8008-1169-1541-21B103ED65ED}"/>
              </a:ext>
            </a:extLst>
          </p:cNvPr>
          <p:cNvCxnSpPr>
            <a:cxnSpLocks/>
            <a:stCxn id="26" idx="3"/>
            <a:endCxn id="29" idx="1"/>
          </p:cNvCxnSpPr>
          <p:nvPr/>
        </p:nvCxnSpPr>
        <p:spPr>
          <a:xfrm flipH="1">
            <a:off x="838590" y="3429000"/>
            <a:ext cx="9916991" cy="1746497"/>
          </a:xfrm>
          <a:prstGeom prst="bentConnector5">
            <a:avLst>
              <a:gd name="adj1" fmla="val -2305"/>
              <a:gd name="adj2" fmla="val 62115"/>
              <a:gd name="adj3" fmla="val 10230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57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161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Flowchart explaining ck4_0.m – convection on Ω=[-1,1]^2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Freeman</dc:creator>
  <cp:lastModifiedBy>Logan Freeman</cp:lastModifiedBy>
  <cp:revision>4</cp:revision>
  <dcterms:created xsi:type="dcterms:W3CDTF">2025-11-14T17:34:43Z</dcterms:created>
  <dcterms:modified xsi:type="dcterms:W3CDTF">2025-11-14T17:58:47Z</dcterms:modified>
</cp:coreProperties>
</file>
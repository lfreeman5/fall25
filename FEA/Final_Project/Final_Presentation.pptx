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71" r:id="rId11"/>
    <p:sldId id="264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8F7B-9536-6F3E-8A9D-F58A9DE45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441CD-46A2-35F8-1881-AB36A82B8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C1B3C-3221-4C6A-D5C9-3249ED4B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2E3F3-1EF4-1E00-A3EC-B3A92D3C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D2D7-433D-3586-16DF-0D09FDB5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2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C53D-5202-845A-7AA3-368146CD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C18BD-1BBB-6E27-A928-CEAB5472E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6B2F-72DA-6E61-F723-0390DA3D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9272-0389-A3A0-5719-6EBE0E73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6107-96CF-0FB7-EF4F-856F393B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4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E832-65C8-E1F5-0A4E-CB97031D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4A3D-6E8F-B64E-9088-F46C566F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A42E2-9BA5-AC6B-D629-640CF514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F3F56-591B-7DAF-0874-646BCEFF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D7CC6-95D8-4709-43F0-59EBC012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0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F9B9-CFD7-0B2A-4346-36AD9A45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FA801-3D40-89C9-0F16-B34ECA9D8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85851-6CC5-407D-7E76-0D6235678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D0137-DE1E-E0BE-74AD-D032F7A3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D10E3-F387-9FBD-5CF1-C7F4E40B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E9653-2E99-798E-1AB9-F7A07EB0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9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5FAE-09F3-D014-F11B-1CC24F7F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76DF-1366-2F4B-3A5C-15EF5E82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E9B04-413C-4CE5-DF50-3DE45FBB2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CAD4E-AAA6-021A-B633-79C64C8C2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D635F-1D49-666F-BB5D-0CFA6C0AA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DAEDE-9083-A7A7-EE0C-E907D0EB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E403C-E185-AC9E-078F-0A08A069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48FF7-8E0B-52A8-4E2A-FEE787F6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1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1F87-C793-680A-8BD6-676AD53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CD82D-E744-8AD9-A1C3-AFC7DD07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75D0-0149-74C3-D39D-5908E8A5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BA279-9312-C9CE-4A71-F782A83E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2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2D1FF-629D-564B-035D-BD8708BB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8217D-BB1A-087D-72FD-A3D14906B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74A19-9D45-D6D9-1E8F-E029BCB8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8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29A6-46C5-CF98-2AB5-3E106372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FD074-6DCD-82BF-C859-6D9C158BE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F5F57-CB37-8683-8FF7-282932002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D504A-97F3-4D15-FD18-060C48FF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0D20F-46D1-239D-546E-39097537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0001E-AE71-D758-6A35-EC6336DC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CF6E-E1D4-7932-050B-D909666D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EFC49-8519-7D06-6688-8B4DE3A7A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7E34C-0A04-96FC-DCFC-B6FF257F9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E1E53-8FB5-27F7-271A-BC765B2B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3249F-EB95-0F2F-5ECE-81E05F9B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DE776-69F1-7784-876D-FB955FB6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3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DCA0-F94C-3B6F-4ADB-ABEEBD97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1EDE2-8016-A465-A72E-30BD68C3B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2C873-AB37-FB5B-928B-2D66333F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6FD92-4FC3-23A8-45ED-B7F86DE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0EB7-89E3-94EE-20F3-73AC014C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9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6198F-49D9-598F-FF6C-23D343815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6B04D-F8DE-F2F5-9F55-E1B3043B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09D7F-B794-9272-9F8A-4D1068A3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47F7-33E5-430E-315B-1595EA8C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5369-E89E-EC61-1F65-52D0468D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2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81251-4900-F902-4142-FBDC666E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61C12-57D1-07C9-39A1-B186C9027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83F98-BF0D-E588-C23C-1365CBB87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2FF77-3009-4D37-AAB0-5ABA1BA1C47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520B7-5E46-44BD-2624-15C9E3D60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024AA-FB2D-1D4F-D7E0-39A4D630A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DAADB-C257-4235-814A-DD3A91DCE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9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0DCA-9F5A-4AEB-034E-01D270115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Finite Element Method applied to Poisson Equation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8D61E-5AE1-A452-77B9-9091602F6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Logan Freeman</a:t>
            </a:r>
          </a:p>
        </p:txBody>
      </p:sp>
    </p:spTree>
    <p:extLst>
      <p:ext uri="{BB962C8B-B14F-4D97-AF65-F5344CB8AC3E}">
        <p14:creationId xmlns:p14="http://schemas.microsoft.com/office/powerpoint/2010/main" val="246186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7F2E91-3B2C-5932-F074-8A72513FF9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Poisson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7F2E91-3B2C-5932-F074-8A72513FF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C1B9-0FE7-2AEE-DAEA-429A78D5A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Solid Mechanics: Stress Distribution</a:t>
            </a:r>
          </a:p>
          <a:p>
            <a:r>
              <a:rPr lang="en-US" dirty="0"/>
              <a:t>Heat Transfer: Temperature Distribution</a:t>
            </a:r>
          </a:p>
          <a:p>
            <a:r>
              <a:rPr lang="en-US" dirty="0"/>
              <a:t>Electromagnetics: Electric Potential</a:t>
            </a:r>
          </a:p>
          <a:p>
            <a:r>
              <a:rPr lang="en-US" dirty="0"/>
              <a:t>Fluid Mechanics: Potential Flow, Viscous Operator in Navier-Stokes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7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F707-B424-84AA-F00E-5EA38C31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Steady Poisson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FD80-5679-1400-E50F-DB8D7BEBC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General:</a:t>
            </a:r>
          </a:p>
          <a:p>
            <a:endParaRPr lang="en-US" dirty="0"/>
          </a:p>
          <a:p>
            <a:r>
              <a:rPr lang="en-US" dirty="0"/>
              <a:t>In this case:</a:t>
            </a:r>
          </a:p>
          <a:p>
            <a:endParaRPr lang="en-US" dirty="0"/>
          </a:p>
          <a:p>
            <a:r>
              <a:rPr lang="en-US" dirty="0"/>
              <a:t>Which has exact 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14CF26-5EFD-3062-1B9D-1BC56C3E9BA1}"/>
                  </a:ext>
                </a:extLst>
              </p:cNvPr>
              <p:cNvSpPr txBox="1"/>
              <p:nvPr/>
            </p:nvSpPr>
            <p:spPr>
              <a:xfrm>
                <a:off x="2978590" y="1600154"/>
                <a:ext cx="1862561" cy="1110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14CF26-5EFD-3062-1B9D-1BC56C3E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590" y="1600154"/>
                <a:ext cx="1862561" cy="11104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EDF020-4B38-88B5-1E3D-A7B80531DECA}"/>
                  </a:ext>
                </a:extLst>
              </p:cNvPr>
              <p:cNvSpPr txBox="1"/>
              <p:nvPr/>
            </p:nvSpPr>
            <p:spPr>
              <a:xfrm>
                <a:off x="3085722" y="2630740"/>
                <a:ext cx="3763851" cy="1110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EDF020-4B38-88B5-1E3D-A7B80531D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722" y="2630740"/>
                <a:ext cx="3763851" cy="1110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A24FC8-1441-2041-C51E-C15924C9CFE1}"/>
                  </a:ext>
                </a:extLst>
              </p:cNvPr>
              <p:cNvSpPr txBox="1"/>
              <p:nvPr/>
            </p:nvSpPr>
            <p:spPr>
              <a:xfrm>
                <a:off x="-970984" y="4359834"/>
                <a:ext cx="60975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A24FC8-1441-2041-C51E-C15924C9C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0984" y="4359834"/>
                <a:ext cx="609750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1353ECF-FE67-8992-973E-A1ADC71F1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335" y="-69441"/>
            <a:ext cx="5540775" cy="36625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78BBBA-6085-46F2-8832-86B998EEE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030" y="3381905"/>
            <a:ext cx="5540775" cy="338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5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82A8-4956-ED5E-E565-F903E944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545-940A-9C53-7624-3687B952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One-Dimensional Spatial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F9D8CF-36D7-8C42-2822-2A46B00FF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L2 Norm: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F9D8CF-36D7-8C42-2822-2A46B00FF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5EE7428-21D6-E590-E8D5-D65BE4AD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966" y="2743199"/>
            <a:ext cx="6628068" cy="399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8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3577-CCE6-30BA-6688-B190FD1E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Poisson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A4075-30E0-9040-089F-675079EE11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Temporal Discretization brings mass matrix: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Elemental equation: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FA4075-30E0-9040-089F-675079EE11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518637-27DC-2BAE-C93D-DF434BCFF605}"/>
                  </a:ext>
                </a:extLst>
              </p:cNvPr>
              <p:cNvSpPr txBox="1"/>
              <p:nvPr/>
            </p:nvSpPr>
            <p:spPr>
              <a:xfrm>
                <a:off x="3953683" y="2992206"/>
                <a:ext cx="4284634" cy="1415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518637-27DC-2BAE-C93D-DF434BCF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683" y="2992206"/>
                <a:ext cx="4284634" cy="1415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25AAEB-7828-21F5-E991-D70A1088040C}"/>
                  </a:ext>
                </a:extLst>
              </p:cNvPr>
              <p:cNvSpPr txBox="1"/>
              <p:nvPr/>
            </p:nvSpPr>
            <p:spPr>
              <a:xfrm>
                <a:off x="3953683" y="4584584"/>
                <a:ext cx="4382162" cy="874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25AAEB-7828-21F5-E991-D70A10880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683" y="4584584"/>
                <a:ext cx="4382162" cy="8745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15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14D3-C38F-B7EC-3879-A285790D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Poisson Derivation,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BABA3-29EF-8EBA-9C95-2B14EB190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Equation: </a:t>
            </a:r>
          </a:p>
          <a:p>
            <a:endParaRPr lang="en-US" dirty="0"/>
          </a:p>
          <a:p>
            <a:r>
              <a:rPr lang="en-US" dirty="0"/>
              <a:t>Temporal Discretization with Backwards Euler: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Rearranging: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B0CFE-DFCF-AEE7-49CB-79CD795C577E}"/>
                  </a:ext>
                </a:extLst>
              </p:cNvPr>
              <p:cNvSpPr txBox="1"/>
              <p:nvPr/>
            </p:nvSpPr>
            <p:spPr>
              <a:xfrm>
                <a:off x="3904919" y="2357432"/>
                <a:ext cx="3077509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M</m:t>
                      </m:r>
                      <m:acc>
                        <m:accPr>
                          <m:chr m:val="̇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B0CFE-DFCF-AEE7-49CB-79CD795C5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919" y="2357432"/>
                <a:ext cx="3077509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9DCFB5-2B68-6FFE-2C9C-982B04FA8270}"/>
                  </a:ext>
                </a:extLst>
              </p:cNvPr>
              <p:cNvSpPr txBox="1"/>
              <p:nvPr/>
            </p:nvSpPr>
            <p:spPr>
              <a:xfrm>
                <a:off x="3835509" y="4930340"/>
                <a:ext cx="4857612" cy="1246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9DCFB5-2B68-6FFE-2C9C-982B04FA8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09" y="4930340"/>
                <a:ext cx="4857612" cy="12466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85EFA7-1D99-E796-3E7F-777BAE3AFBF3}"/>
                  </a:ext>
                </a:extLst>
              </p:cNvPr>
              <p:cNvSpPr txBox="1"/>
              <p:nvPr/>
            </p:nvSpPr>
            <p:spPr>
              <a:xfrm>
                <a:off x="3667194" y="3354143"/>
                <a:ext cx="5080045" cy="1294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85EFA7-1D99-E796-3E7F-777BAE3A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194" y="3354143"/>
                <a:ext cx="5080045" cy="1294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8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olution_animation">
            <a:hlinkClick r:id="" action="ppaction://media"/>
            <a:extLst>
              <a:ext uri="{FF2B5EF4-FFF2-40B4-BE49-F238E27FC236}">
                <a16:creationId xmlns:a16="http://schemas.microsoft.com/office/drawing/2014/main" id="{6D598463-9DFA-F20B-7AD1-88D2152E9A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2286000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4FD19F-6F7E-9A3C-EE6D-BB9F97F0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Poisson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9A1C3-8E35-7688-7D99-E8ACCDF54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021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Method of Manufactured solutions</a:t>
                </a:r>
              </a:p>
              <a:p>
                <a:pPr lvl="1"/>
                <a:r>
                  <a:rPr lang="en-US" dirty="0"/>
                  <a:t>PDE Technique –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and 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which produces that exact solution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89A1C3-8E35-7688-7D99-E8ACCDF54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021"/>
                <a:ext cx="10515600" cy="4351338"/>
              </a:xfrm>
              <a:blipFill>
                <a:blip r:embed="rId5"/>
                <a:stretch>
                  <a:fillRect l="-1043" t="-25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3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415B-15E5-EC2B-5DA2-14B7670B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E7609-6515-BF86-0EC0-7338316C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1372631"/>
            <a:ext cx="10299032" cy="525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5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DA8C-C19C-1B5F-16BD-3DA9E098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B9F2-433A-778F-5B9F-20EEE91D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 – Boundary integral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0AF062-E508-6084-FA9E-4CF5E22D1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86" y="1334856"/>
            <a:ext cx="8849350" cy="1616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15613-9A90-3F2D-9868-4FE05B55878D}"/>
              </a:ext>
            </a:extLst>
          </p:cNvPr>
          <p:cNvSpPr txBox="1"/>
          <p:nvPr/>
        </p:nvSpPr>
        <p:spPr>
          <a:xfrm>
            <a:off x="371192" y="3032911"/>
            <a:ext cx="1198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Boundary integral on a node is sum of </a:t>
            </a:r>
            <a:r>
              <a:rPr lang="en-US" sz="3600"/>
              <a:t>neighbor elements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4722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F7FB-456B-1527-4DC4-96E164CA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27DD20-9ABF-BA3B-7300-397F459EE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683"/>
          <a:stretch>
            <a:fillRect/>
          </a:stretch>
        </p:blipFill>
        <p:spPr>
          <a:xfrm>
            <a:off x="7677613" y="1335724"/>
            <a:ext cx="4770808" cy="49077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E0EF76-E8E8-8895-E8BC-FFC256F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 – Boundary integral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E9E4BA-1A9D-349D-68AD-AA2B450D2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52" y="2929238"/>
            <a:ext cx="6049219" cy="110505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68CDDF1-08F8-3184-7CA9-F5E65FEA46E7}"/>
              </a:ext>
            </a:extLst>
          </p:cNvPr>
          <p:cNvSpPr/>
          <p:nvPr/>
        </p:nvSpPr>
        <p:spPr>
          <a:xfrm>
            <a:off x="2562131" y="1556159"/>
            <a:ext cx="5875699" cy="1558233"/>
          </a:xfrm>
          <a:custGeom>
            <a:avLst/>
            <a:gdLst>
              <a:gd name="connsiteX0" fmla="*/ 5875699 w 5875699"/>
              <a:gd name="connsiteY0" fmla="*/ 1368110 h 1558233"/>
              <a:gd name="connsiteX1" fmla="*/ 2833734 w 5875699"/>
              <a:gd name="connsiteY1" fmla="*/ 1037 h 1558233"/>
              <a:gd name="connsiteX2" fmla="*/ 0 w 5875699"/>
              <a:gd name="connsiteY2" fmla="*/ 1558233 h 155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5699" h="1558233">
                <a:moveTo>
                  <a:pt x="5875699" y="1368110"/>
                </a:moveTo>
                <a:cubicBezTo>
                  <a:pt x="4844358" y="668730"/>
                  <a:pt x="3813017" y="-30650"/>
                  <a:pt x="2833734" y="1037"/>
                </a:cubicBezTo>
                <a:cubicBezTo>
                  <a:pt x="1854451" y="32724"/>
                  <a:pt x="927225" y="795478"/>
                  <a:pt x="0" y="1558233"/>
                </a:cubicBezTo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4E3D64F-CE56-D970-7598-561D42687DD2}"/>
              </a:ext>
            </a:extLst>
          </p:cNvPr>
          <p:cNvSpPr/>
          <p:nvPr/>
        </p:nvSpPr>
        <p:spPr>
          <a:xfrm>
            <a:off x="4888871" y="4010685"/>
            <a:ext cx="3657600" cy="1055056"/>
          </a:xfrm>
          <a:custGeom>
            <a:avLst/>
            <a:gdLst>
              <a:gd name="connsiteX0" fmla="*/ 3657600 w 3657600"/>
              <a:gd name="connsiteY0" fmla="*/ 615636 h 1055056"/>
              <a:gd name="connsiteX1" fmla="*/ 1611517 w 3657600"/>
              <a:gd name="connsiteY1" fmla="*/ 1032095 h 1055056"/>
              <a:gd name="connsiteX2" fmla="*/ 0 w 3657600"/>
              <a:gd name="connsiteY2" fmla="*/ 0 h 1055056"/>
              <a:gd name="connsiteX3" fmla="*/ 0 w 3657600"/>
              <a:gd name="connsiteY3" fmla="*/ 0 h 105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1055056">
                <a:moveTo>
                  <a:pt x="3657600" y="615636"/>
                </a:moveTo>
                <a:cubicBezTo>
                  <a:pt x="2939358" y="875168"/>
                  <a:pt x="2221117" y="1134701"/>
                  <a:pt x="1611517" y="1032095"/>
                </a:cubicBezTo>
                <a:cubicBezTo>
                  <a:pt x="1001917" y="929489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0BFC-C247-F3DC-D6B3-06CD54D8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1EF755-6B03-BADA-9DD9-1DAF9ECAF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02" y="2813099"/>
            <a:ext cx="6049219" cy="1105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A4C4B0-3204-D1D3-2B20-46F21FE0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305" y="1027906"/>
            <a:ext cx="5677626" cy="5153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EA36B-DAF2-2D69-16B4-528205A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 Boundary integral </a:t>
            </a:r>
          </a:p>
        </p:txBody>
      </p:sp>
    </p:spTree>
    <p:extLst>
      <p:ext uri="{BB962C8B-B14F-4D97-AF65-F5344CB8AC3E}">
        <p14:creationId xmlns:p14="http://schemas.microsoft.com/office/powerpoint/2010/main" val="325949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9A57-B4C2-6980-2433-1E60E9DB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F110-42CD-A2B7-4E7C-6C079E4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63ACE-5F66-E43E-D1C6-1ACBABFCE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System: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Rearrange: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570509-1490-8089-E78A-43D17CADE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309" y="2480430"/>
            <a:ext cx="4885382" cy="948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26613D-4384-8808-82D9-1C90C971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405" y="4759413"/>
            <a:ext cx="4501190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92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BF77-6115-62AF-2DEE-6F110452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4361-D3C5-3E60-5BAB-C3047CDD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76C88E-AC00-A96F-A51E-8397B7978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Exact Solution with homogenous Dirichlet boundaries,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76C88E-AC00-A96F-A51E-8397B7978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B5E61D7-0408-0667-6EFF-F7B68E3D8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46" y="3083791"/>
            <a:ext cx="9200708" cy="103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10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DDB2-07B2-54EA-3B65-B991965A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31E6F0-5A42-058F-F665-E229D304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8" y="1175337"/>
            <a:ext cx="11938503" cy="56826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E3AA7E-2F62-94A1-BC7C-C06E7A97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</a:t>
            </a:r>
          </a:p>
        </p:txBody>
      </p:sp>
    </p:spTree>
    <p:extLst>
      <p:ext uri="{BB962C8B-B14F-4D97-AF65-F5344CB8AC3E}">
        <p14:creationId xmlns:p14="http://schemas.microsoft.com/office/powerpoint/2010/main" val="3877399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ED708-139B-3242-32EB-211DE6F3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2A59-5E6A-F63B-C1D3-B7BB3FB5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Transient Poisson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89A4747-983A-F3CA-B0A9-458DDB7FB8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 setup:</a:t>
                </a:r>
              </a:p>
              <a:p>
                <a:pPr lvl="1"/>
                <a:r>
                  <a:rPr lang="en-US" dirty="0"/>
                  <a:t>Left hand side Dirichlet value of 0, right hand Dirichlet value of 1</a:t>
                </a:r>
              </a:p>
              <a:p>
                <a:pPr lvl="1"/>
                <a:r>
                  <a:rPr lang="en-US" dirty="0"/>
                  <a:t>Top constant heat flux of 1, Bottom variable heat flux of 5*x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89A4747-983A-F3CA-B0A9-458DDB7FB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520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48DC6-156B-CE91-98D9-9C2795C9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olution_animation">
            <a:hlinkClick r:id="" action="ppaction://media"/>
            <a:extLst>
              <a:ext uri="{FF2B5EF4-FFF2-40B4-BE49-F238E27FC236}">
                <a16:creationId xmlns:a16="http://schemas.microsoft.com/office/drawing/2014/main" id="{952E7FF0-7056-975A-7A4C-8B18E90945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9924" y="67604"/>
            <a:ext cx="8414084" cy="6310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2D869B-1331-D3D3-E652-84CC881CA80F}"/>
              </a:ext>
            </a:extLst>
          </p:cNvPr>
          <p:cNvSpPr txBox="1"/>
          <p:nvPr/>
        </p:nvSpPr>
        <p:spPr>
          <a:xfrm>
            <a:off x="669956" y="2661719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U=0 Dirichlet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6688F-AB8F-DC55-FC85-0F10AD062991}"/>
              </a:ext>
            </a:extLst>
          </p:cNvPr>
          <p:cNvSpPr txBox="1"/>
          <p:nvPr/>
        </p:nvSpPr>
        <p:spPr>
          <a:xfrm>
            <a:off x="9471657" y="3333386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U=1 Dirichlet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0890C-33EC-F2CC-1EED-03BFD915D992}"/>
              </a:ext>
            </a:extLst>
          </p:cNvPr>
          <p:cNvSpPr txBox="1"/>
          <p:nvPr/>
        </p:nvSpPr>
        <p:spPr>
          <a:xfrm>
            <a:off x="4986950" y="6193501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q=5x Neumann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5B458-37C7-20AF-E9F8-E1C7A4A89E65}"/>
              </a:ext>
            </a:extLst>
          </p:cNvPr>
          <p:cNvSpPr txBox="1"/>
          <p:nvPr/>
        </p:nvSpPr>
        <p:spPr>
          <a:xfrm>
            <a:off x="5209311" y="133135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q=1 Neumann</a:t>
            </a:r>
          </a:p>
        </p:txBody>
      </p:sp>
    </p:spTree>
    <p:extLst>
      <p:ext uri="{BB962C8B-B14F-4D97-AF65-F5344CB8AC3E}">
        <p14:creationId xmlns:p14="http://schemas.microsoft.com/office/powerpoint/2010/main" val="280110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299</Words>
  <Application>Microsoft Office PowerPoint</Application>
  <PresentationFormat>Widescreen</PresentationFormat>
  <Paragraphs>64</Paragraphs>
  <Slides>16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Finite Element Method applied to Poisson Equation </vt:lpstr>
      <vt:lpstr>Poisson Equation ∇^2 u=f</vt:lpstr>
      <vt:lpstr>Steady Poisson</vt:lpstr>
      <vt:lpstr>One-Dimensional Spatial Convergence</vt:lpstr>
      <vt:lpstr>Transient Poisson Derivation</vt:lpstr>
      <vt:lpstr>Transient Poisson Derivation, cont.</vt:lpstr>
      <vt:lpstr>Transient Poisson Results</vt:lpstr>
      <vt:lpstr>2D Transient Poisson</vt:lpstr>
      <vt:lpstr>2D Transient Poisson – Boundary integral </vt:lpstr>
      <vt:lpstr>2D Transient Poisson – Boundary integral </vt:lpstr>
      <vt:lpstr>2D Transient Poisson Boundary integral </vt:lpstr>
      <vt:lpstr>2D Transient Poisson</vt:lpstr>
      <vt:lpstr>2D Transient Poisson</vt:lpstr>
      <vt:lpstr>2D Transient Poisson</vt:lpstr>
      <vt:lpstr>2D Transient Poisson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11</cp:revision>
  <dcterms:created xsi:type="dcterms:W3CDTF">2025-11-25T21:39:08Z</dcterms:created>
  <dcterms:modified xsi:type="dcterms:W3CDTF">2025-12-04T00:15:01Z</dcterms:modified>
</cp:coreProperties>
</file>
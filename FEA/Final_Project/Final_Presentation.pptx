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59" r:id="rId6"/>
    <p:sldId id="261" r:id="rId7"/>
    <p:sldId id="262" r:id="rId8"/>
    <p:sldId id="263" r:id="rId9"/>
    <p:sldId id="265" r:id="rId10"/>
    <p:sldId id="264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6" d="100"/>
          <a:sy n="106" d="100"/>
        </p:scale>
        <p:origin x="7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9D8F7B-9536-6F3E-8A9D-F58A9DE457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4E441CD-46A2-35F8-1881-AB36A82B8C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8C1B3C-3221-4C6A-D5C9-3249ED4BA6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92FF77-3009-4D37-AAB0-5ABA1BA1C47E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32E3F3-1EF4-1E00-A3EC-B3A92D3CAF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98D2D7-433D-3586-16DF-0D09FDB5D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BDAADB-C257-4235-814A-DD3A91DCE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02248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52C53D-5202-845A-7AA3-368146CD3D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9C18BD-1BBB-6E27-A928-CEAB5472E1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D36B2F-72DA-6E61-F723-0390DA3D42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92FF77-3009-4D37-AAB0-5ABA1BA1C47E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999272-0389-A3A0-5719-6EBE0E730A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D16107-96CF-0FB7-EF4F-856F393BC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BDAADB-C257-4235-814A-DD3A91DCE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8469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99E832-65C8-E1F5-0A4E-CB97031D02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894A3D-6E8F-B64E-9088-F46C566FA9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0A42E2-9BA5-AC6B-D629-640CF5145B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92FF77-3009-4D37-AAB0-5ABA1BA1C47E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FF3F56-591B-7DAF-0874-646BCEFF12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AD7CC6-95D8-4709-43F0-59EBC0120A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BDAADB-C257-4235-814A-DD3A91DCE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044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F9F9B9-CFD7-0B2A-4346-36AD9A45E8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8FA801-3D40-89C9-0F16-B34ECA9D893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2185851-6CC5-407D-7E76-0D62356785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65D0137-DE1E-E0BE-74AD-D032F7A393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92FF77-3009-4D37-AAB0-5ABA1BA1C47E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0D10E3-F387-9FBD-5CF1-C7F4E40BD8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9E9653-2E99-798E-1AB9-F7A07EB004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BDAADB-C257-4235-814A-DD3A91DCE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59994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375FAE-09F3-D014-F11B-1CC24F7FF6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AF76DF-1366-2F4B-3A5C-15EF5E823C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60E9B04-413C-4CE5-DF50-3DE45FBB24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1BCAD4E-AAA6-021A-B633-79C64C8C23E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40D635F-1D49-666F-BB5D-0CFA6C0AAAC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23DAEDE-9083-A7A7-EE0C-E907D0EB94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92FF77-3009-4D37-AAB0-5ABA1BA1C47E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6AE403C-E185-AC9E-078F-0A08A0690D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FB48FF7-8E0B-52A8-4E2A-FEE787F6F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BDAADB-C257-4235-814A-DD3A91DCE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87171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CB1F87-C793-680A-8BD6-676AD5335E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3CD82D-E744-8AD9-A1C3-AFC7DD077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92FF77-3009-4D37-AAB0-5ABA1BA1C47E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FC375D0-0149-74C3-D39D-5908E8A54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6BA279-9312-C9CE-4A71-F782A83EAD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BDAADB-C257-4235-814A-DD3A91DCE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211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5A2D1FF-629D-564B-035D-BD8708BB39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92FF77-3009-4D37-AAB0-5ABA1BA1C47E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D88217D-BB1A-087D-72FD-A3D14906B9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574A19-9D45-D6D9-1E8F-E029BCB811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BDAADB-C257-4235-814A-DD3A91DCE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46888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7F29A6-46C5-CF98-2AB5-3E1063723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EFD074-6DCD-82BF-C859-6D9C158BE3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6DF5F57-CB37-8683-8FF7-2829320021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3D504A-97F3-4D15-FD18-060C48FF5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92FF77-3009-4D37-AAB0-5ABA1BA1C47E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10D20F-46D1-239D-546E-39097537C9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10001E-AE71-D758-6A35-EC6336DC6F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BDAADB-C257-4235-814A-DD3A91DCE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15147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E8CF6E-E1D4-7932-050B-D909666D62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59EFC49-8519-7D06-6688-8B4DE3A7AD0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07E34C-0A04-96FC-DCFC-B6FF257F92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6E1E53-8FB5-27F7-271A-BC765B2B11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92FF77-3009-4D37-AAB0-5ABA1BA1C47E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E3249F-EB95-0F2F-5ECE-81E05F9BEB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4DE776-69F1-7784-876D-FB955FB628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BDAADB-C257-4235-814A-DD3A91DCE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35325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07DCA0-F94C-3B6F-4ADB-ABEEBD97BA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DA1EDE2-8016-A465-A72E-30BD68C3BD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52C873-AB37-FB5B-928B-2D66333FFC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92FF77-3009-4D37-AAB0-5ABA1BA1C47E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76FD92-4FC3-23A8-45ED-B7F86DE657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F60EB7-89E3-94EE-20F3-73AC014C01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BDAADB-C257-4235-814A-DD3A91DCE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22908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486198F-49D9-598F-FF6C-23D343815C8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C6B04D-F8DE-F2F5-9F55-E1B3043BC1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809D7F-B794-9272-9F8A-4D1068A3B3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92FF77-3009-4D37-AAB0-5ABA1BA1C47E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5F47F7-33E5-430E-315B-1595EA8C9D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A5369-E89E-EC61-1F65-52D0468D17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BDAADB-C257-4235-814A-DD3A91DCE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72222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EE81251-4900-F902-4142-FBDC666E8F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261C12-57D1-07C9-39A1-B186C90270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083F98-BF0D-E588-C23C-1365CBB87FB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92FF77-3009-4D37-AAB0-5ABA1BA1C47E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1520B7-5E46-44BD-2624-15C9E3D6028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0024AA-FB2D-1D4F-D7E0-39A4D630A1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8BDAADB-C257-4235-814A-DD3A91DCE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0947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4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E90DCA-9F5A-4AEB-034E-01D270115DF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Finite Element Method applied to Poisson Equation	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BC8D61E-5AE1-A452-77B9-9091602F605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Logan Freeman</a:t>
            </a:r>
          </a:p>
        </p:txBody>
      </p:sp>
    </p:spTree>
    <p:extLst>
      <p:ext uri="{BB962C8B-B14F-4D97-AF65-F5344CB8AC3E}">
        <p14:creationId xmlns:p14="http://schemas.microsoft.com/office/powerpoint/2010/main" val="24618633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667F2E91-3B2C-5932-F074-8A72513FF906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Poisson Equation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667F2E91-3B2C-5932-F074-8A72513FF9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04C1B9-0FE7-2AEE-DAEA-429A78D5A8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Solid Mechanics: Stress Distribution</a:t>
            </a:r>
          </a:p>
          <a:p>
            <a:r>
              <a:rPr lang="en-US" dirty="0"/>
              <a:t>Heat Transfer: Temperature Distribution</a:t>
            </a:r>
          </a:p>
          <a:p>
            <a:r>
              <a:rPr lang="en-US" dirty="0"/>
              <a:t>Electromagnetics: Electric Potential</a:t>
            </a:r>
          </a:p>
          <a:p>
            <a:r>
              <a:rPr lang="en-US" dirty="0"/>
              <a:t>Fluid Mechanics: Potential Flow, Viscous Operator in Navier-Stokes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79736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8BF707-B424-84AA-F00E-5EA38C310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Steady Poisson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DDFD80-5679-1400-E50F-DB8D7BEBCE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General:</a:t>
            </a:r>
          </a:p>
          <a:p>
            <a:endParaRPr lang="en-US" dirty="0"/>
          </a:p>
          <a:p>
            <a:r>
              <a:rPr lang="en-US" dirty="0"/>
              <a:t>In this case:</a:t>
            </a:r>
          </a:p>
          <a:p>
            <a:endParaRPr lang="en-US" dirty="0"/>
          </a:p>
          <a:p>
            <a:r>
              <a:rPr lang="en-US" dirty="0"/>
              <a:t>Which has exact solution: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214CF26-5EFD-3062-1B9D-1BC56C3E9BA1}"/>
                  </a:ext>
                </a:extLst>
              </p:cNvPr>
              <p:cNvSpPr txBox="1"/>
              <p:nvPr/>
            </p:nvSpPr>
            <p:spPr>
              <a:xfrm>
                <a:off x="2978590" y="1600154"/>
                <a:ext cx="1862561" cy="11104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US" sz="2400" b="0" dirty="0"/>
              </a:p>
              <a:p>
                <a:endParaRPr lang="en-US" sz="24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214CF26-5EFD-3062-1B9D-1BC56C3E9B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78590" y="1600154"/>
                <a:ext cx="1862561" cy="111049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9EDF020-4B38-88B5-1E3D-A7B80531DECA}"/>
                  </a:ext>
                </a:extLst>
              </p:cNvPr>
              <p:cNvSpPr txBox="1"/>
              <p:nvPr/>
            </p:nvSpPr>
            <p:spPr>
              <a:xfrm>
                <a:off x="3085722" y="2630740"/>
                <a:ext cx="3763851" cy="11104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func>
                        <m:func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func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∈[0,1]</m:t>
                      </m:r>
                    </m:oMath>
                  </m:oMathPara>
                </a14:m>
                <a:endParaRPr lang="en-US" sz="2400" b="0" dirty="0"/>
              </a:p>
              <a:p>
                <a:endParaRPr lang="en-US" sz="24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9EDF020-4B38-88B5-1E3D-A7B80531DE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5722" y="2630740"/>
                <a:ext cx="3763851" cy="111049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AA24FC8-1441-2041-C51E-C15924C9CFE1}"/>
                  </a:ext>
                </a:extLst>
              </p:cNvPr>
              <p:cNvSpPr txBox="1"/>
              <p:nvPr/>
            </p:nvSpPr>
            <p:spPr>
              <a:xfrm>
                <a:off x="-970984" y="4359834"/>
                <a:ext cx="6097508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800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func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AA24FC8-1441-2041-C51E-C15924C9CF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970984" y="4359834"/>
                <a:ext cx="6097508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C1353ECF-FE67-8992-973E-A1ADC71F193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3335" y="-69441"/>
            <a:ext cx="5540775" cy="366254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D78BBBA-6085-46F2-8832-86B998EEEE4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9030" y="3381905"/>
            <a:ext cx="5540775" cy="3386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93519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4F82A8-4956-ED5E-E565-F903E9442D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F50545-940A-9C53-7624-3687B95252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One-Dimensional Spatial Convergence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FF9D8CF-36D7-8C42-2822-2A46B00FF62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L2 Norm: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nary>
                          <m:nary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sup>
                          <m:e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𝑁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nary>
                      </m:e>
                    </m:rad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FF9D8CF-36D7-8C42-2822-2A46B00FF62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85EE7428-21D6-E590-E8D5-D65BE4AD11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1966" y="2743199"/>
            <a:ext cx="6628068" cy="3994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74857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F03577-CCE6-30BA-6688-B190FD1E03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Transient Poisson Derivation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1FA4075-30E0-9040-089F-675079EE111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en-US" b="0" dirty="0"/>
              </a:p>
              <a:p>
                <a:r>
                  <a:rPr lang="en-US" dirty="0"/>
                  <a:t>Temporal Discretization brings mass matrix: 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Elemental equation: 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1FA4075-30E0-9040-089F-675079EE111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2518637-27DC-2BAE-C93D-DF434BCFF605}"/>
                  </a:ext>
                </a:extLst>
              </p:cNvPr>
              <p:cNvSpPr txBox="1"/>
              <p:nvPr/>
            </p:nvSpPr>
            <p:spPr>
              <a:xfrm>
                <a:off x="3953683" y="2992206"/>
                <a:ext cx="4284634" cy="141532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3"/>
                                </m:r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brk m:alnAt="23"/>
                                </m:r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sub>
                        <m:sup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sup>
                        <m:e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</m:oMath>
                  </m:oMathPara>
                </a14:m>
                <a:endParaRPr lang="en-US" sz="2800" dirty="0"/>
              </a:p>
              <a:p>
                <a:endParaRPr lang="en-US" sz="28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2518637-27DC-2BAE-C93D-DF434BCFF6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3683" y="2992206"/>
                <a:ext cx="4284634" cy="141532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B25AAEB-7828-21F5-E991-D70A1088040C}"/>
                  </a:ext>
                </a:extLst>
              </p:cNvPr>
              <p:cNvSpPr txBox="1"/>
              <p:nvPr/>
            </p:nvSpPr>
            <p:spPr>
              <a:xfrm>
                <a:off x="3953683" y="4584584"/>
                <a:ext cx="4382162" cy="87453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sup>
                      </m:sSup>
                      <m:acc>
                        <m:accPr>
                          <m:chr m:val="̇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p>
                          </m:sSup>
                        </m:e>
                      </m:acc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=−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sup>
                      </m:sSup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sup>
                      </m:sSup>
                    </m:oMath>
                  </m:oMathPara>
                </a14:m>
                <a:endParaRPr lang="en-US" sz="2800" dirty="0"/>
              </a:p>
              <a:p>
                <a:endParaRPr lang="en-US" sz="28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B25AAEB-7828-21F5-E991-D70A108804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3683" y="4584584"/>
                <a:ext cx="4382162" cy="87453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801584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914D3-C38F-B7EC-3879-A285790DD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Transient Poisson Derivation, cont.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7BABA3-29EF-8EBA-9C95-2B14EB1906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Global Equation: </a:t>
            </a:r>
          </a:p>
          <a:p>
            <a:endParaRPr lang="en-US" dirty="0"/>
          </a:p>
          <a:p>
            <a:r>
              <a:rPr lang="en-US" dirty="0"/>
              <a:t>Temporal Discretization with Backwards Euler: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Rearranging:</a:t>
            </a:r>
          </a:p>
          <a:p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9B0CFE-DFCF-AEE7-49CB-79CD795C577E}"/>
                  </a:ext>
                </a:extLst>
              </p:cNvPr>
              <p:cNvSpPr txBox="1"/>
              <p:nvPr/>
            </p:nvSpPr>
            <p:spPr>
              <a:xfrm>
                <a:off x="3904919" y="2357432"/>
                <a:ext cx="3077509" cy="86177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</a:rPr>
                        <m:t>M</m:t>
                      </m:r>
                      <m:acc>
                        <m:accPr>
                          <m:chr m:val="̇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</m:sSup>
                        </m:e>
                      </m:acc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=−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</m:sSup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𝐹</m:t>
                      </m:r>
                    </m:oMath>
                  </m:oMathPara>
                </a14:m>
                <a:endParaRPr lang="en-US" sz="2800" dirty="0"/>
              </a:p>
              <a:p>
                <a:endParaRPr lang="en-US" sz="28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9B0CFE-DFCF-AEE7-49CB-79CD795C57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4919" y="2357432"/>
                <a:ext cx="3077509" cy="86177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49DCFB5-2B68-6FFE-2C9C-982B04FA8270}"/>
                  </a:ext>
                </a:extLst>
              </p:cNvPr>
              <p:cNvSpPr txBox="1"/>
              <p:nvPr/>
            </p:nvSpPr>
            <p:spPr>
              <a:xfrm>
                <a:off x="3835509" y="4930340"/>
                <a:ext cx="4857612" cy="124662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en-US" sz="2800" b="0" i="0" smtClean="0"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den>
                          </m:f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</m:d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sz="2800" b="0" i="0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p>
                      </m:sSup>
                    </m:oMath>
                  </m:oMathPara>
                </a14:m>
                <a:endParaRPr lang="en-US" sz="2800" dirty="0"/>
              </a:p>
              <a:p>
                <a:endParaRPr lang="en-US" sz="280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49DCFB5-2B68-6FFE-2C9C-982B04FA82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35509" y="4930340"/>
                <a:ext cx="4857612" cy="124662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E85EFA7-1D99-E796-3E7F-777BAE3AFBF3}"/>
                  </a:ext>
                </a:extLst>
              </p:cNvPr>
              <p:cNvSpPr txBox="1"/>
              <p:nvPr/>
            </p:nvSpPr>
            <p:spPr>
              <a:xfrm>
                <a:off x="3667194" y="3354143"/>
                <a:ext cx="5080045" cy="129458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𝑀</m:t>
                      </m:r>
                      <m:f>
                        <m:f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p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p>
                              </m:s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p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p>
                              </m:sSup>
                            </m:e>
                          </m:d>
                        </m:num>
                        <m:den>
                          <m:r>
                            <m:rPr>
                              <m:sty m:val="p"/>
                            </m:rPr>
                            <a:rPr lang="en-US" sz="2800" b="0" i="0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𝐾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p>
                      </m:sSup>
                    </m:oMath>
                  </m:oMathPara>
                </a14:m>
                <a:endParaRPr lang="en-US" sz="2800" dirty="0"/>
              </a:p>
              <a:p>
                <a:endParaRPr lang="en-US" sz="2800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E85EFA7-1D99-E796-3E7F-777BAE3AFB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7194" y="3354143"/>
                <a:ext cx="5080045" cy="129458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454813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solution_animation">
            <a:hlinkClick r:id="" action="ppaction://media"/>
            <a:extLst>
              <a:ext uri="{FF2B5EF4-FFF2-40B4-BE49-F238E27FC236}">
                <a16:creationId xmlns:a16="http://schemas.microsoft.com/office/drawing/2014/main" id="{6D598463-9DFA-F20B-7AD1-88D2152E9A15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3048000" y="2286000"/>
            <a:ext cx="6096000" cy="4572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B4FD19F-6F7E-9A3C-EE6D-BB9F97F0E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Transient Poisson Results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89A1C3-8E35-7688-7D99-E8ACCDF540F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54021"/>
                <a:ext cx="10515600" cy="4351338"/>
              </a:xfrm>
            </p:spPr>
            <p:txBody>
              <a:bodyPr/>
              <a:lstStyle/>
              <a:p>
                <a:r>
                  <a:rPr lang="en-US" dirty="0"/>
                  <a:t>Method of Manufactured solutions</a:t>
                </a:r>
              </a:p>
              <a:p>
                <a:pPr lvl="1"/>
                <a:r>
                  <a:rPr lang="en-US" dirty="0"/>
                  <a:t>PDE Technique – choose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en-US" dirty="0"/>
                  <a:t> and calculate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en-US" dirty="0"/>
                  <a:t> which produces that exact solution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89A1C3-8E35-7688-7D99-E8ACCDF540F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54021"/>
                <a:ext cx="10515600" cy="4351338"/>
              </a:xfrm>
              <a:blipFill>
                <a:blip r:embed="rId5"/>
                <a:stretch>
                  <a:fillRect l="-1043" t="-2521" r="-12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6137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55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E415B-15E5-EC2B-5DA2-14B7670B82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2D Transient Poisson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4BE7609-6515-BF86-0EC0-7338316C1F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84" y="1372631"/>
            <a:ext cx="10299032" cy="5257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99556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89DA8C-C19C-1B5F-16BD-3DA9E098BA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EB973ADB-FA5B-EF69-5654-23330406A0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b="11683"/>
          <a:stretch>
            <a:fillRect/>
          </a:stretch>
        </p:blipFill>
        <p:spPr>
          <a:xfrm>
            <a:off x="275" y="935923"/>
            <a:ext cx="4770808" cy="490771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EF2B9F2-433A-778F-5B9F-20EEE91D4F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2D Transient Poisson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60AF062-E508-6084-FA9E-4CF5E22D1F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5505" y="5752946"/>
            <a:ext cx="6049219" cy="1105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72257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BD0BFC-C247-F3DC-D6B3-06CD54D868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0A3DD47F-7978-E5E2-2828-15D87E524FB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b="11683"/>
          <a:stretch>
            <a:fillRect/>
          </a:stretch>
        </p:blipFill>
        <p:spPr>
          <a:xfrm>
            <a:off x="275" y="935923"/>
            <a:ext cx="4770808" cy="490771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6DEA36B-DAF2-2D69-16B4-528205A90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2D Transient Poisson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FA4C4B0-3204-D1D3-2B20-46F21FE054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689843"/>
            <a:ext cx="5677626" cy="515379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F1EF755-6B03-BADA-9DD9-1DAF9ECAFA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5505" y="5752946"/>
            <a:ext cx="6049219" cy="1105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94903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2B9A57-B4C2-6980-2433-1E60E9DBA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9DF110-42CD-A2B7-4E7C-6C079E4BD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2D Transient Poisson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A63ACE-5F66-E43E-D1C6-1ACBABFCE2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Global System: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Rearrange: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5570509-1490-8089-E78A-43D17CADE7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3309" y="2480430"/>
            <a:ext cx="4885382" cy="94857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626613D-4384-8808-82D9-1C90C971DC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5405" y="4759413"/>
            <a:ext cx="4501190" cy="905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36920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44BF77-6115-62AF-2DEE-6F110452BB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024361-D3C5-3E60-5BAB-C3047CDD5B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2D Transient Poisson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3D76C88E-AC00-A96F-A51E-8397B79784D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Exact Solution with homogenous Dirichlet boundaries,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3D76C88E-AC00-A96F-A51E-8397B79784D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6B5E61D7-0408-0667-6EFF-F7B68E3D81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5646" y="3083791"/>
            <a:ext cx="9200708" cy="10398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95103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4DDB2-07B2-54EA-3B65-B991965A8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C631E6F0-5A42-058F-F665-E229D304FC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748" y="1175337"/>
            <a:ext cx="11938503" cy="56826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8E3AA7E-2F62-94A1-BC7C-C06E7A9737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2D Transient Poisson</a:t>
            </a:r>
          </a:p>
        </p:txBody>
      </p:sp>
    </p:spTree>
    <p:extLst>
      <p:ext uri="{BB962C8B-B14F-4D97-AF65-F5344CB8AC3E}">
        <p14:creationId xmlns:p14="http://schemas.microsoft.com/office/powerpoint/2010/main" val="38773997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9ED708-139B-3242-32EB-211DE6F360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DD2A59-5E6A-F63B-C1D3-B7BB3FB5A4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2D Transient Poisson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089A4747-983A-F3CA-B0A9-458DDB7FB8A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Problem setup:</a:t>
                </a:r>
              </a:p>
              <a:p>
                <a:pPr lvl="1"/>
                <a:r>
                  <a:rPr lang="en-US" dirty="0"/>
                  <a:t>Left hand side Dirichlet value of 0, right hand Dirichlet value of 1</a:t>
                </a:r>
              </a:p>
              <a:p>
                <a:pPr lvl="1"/>
                <a:r>
                  <a:rPr lang="en-US" dirty="0"/>
                  <a:t>Bottom constant heat flux of 1, Top variable heat flux of 5*x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=60</m:t>
                    </m:r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=0.001</m:t>
                    </m:r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089A4747-983A-F3CA-B0A9-458DDB7FB8A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235208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648DC6-156B-CE91-98D9-9C2795C950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solution_animation">
            <a:hlinkClick r:id="" action="ppaction://media"/>
            <a:extLst>
              <a:ext uri="{FF2B5EF4-FFF2-40B4-BE49-F238E27FC236}">
                <a16:creationId xmlns:a16="http://schemas.microsoft.com/office/drawing/2014/main" id="{952E7FF0-7056-975A-7A4C-8B18E90945C7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799924" y="547437"/>
            <a:ext cx="8414084" cy="63105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AB344C6-5A82-5DC1-2CA3-220ADC8AD8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1573" y="0"/>
            <a:ext cx="10515600" cy="1325563"/>
          </a:xfrm>
        </p:spPr>
        <p:txBody>
          <a:bodyPr/>
          <a:lstStyle/>
          <a:p>
            <a:r>
              <a:rPr lang="en-US" dirty="0"/>
              <a:t>2D Transient Poisson</a:t>
            </a:r>
          </a:p>
        </p:txBody>
      </p:sp>
    </p:spTree>
    <p:extLst>
      <p:ext uri="{BB962C8B-B14F-4D97-AF65-F5344CB8AC3E}">
        <p14:creationId xmlns:p14="http://schemas.microsoft.com/office/powerpoint/2010/main" val="28011020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05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</TotalTime>
  <Words>265</Words>
  <Application>Microsoft Office PowerPoint</Application>
  <PresentationFormat>Widescreen</PresentationFormat>
  <Paragraphs>59</Paragraphs>
  <Slides>15</Slides>
  <Notes>0</Notes>
  <HiddenSlides>0</HiddenSlides>
  <MMClips>2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Aptos</vt:lpstr>
      <vt:lpstr>Aptos Display</vt:lpstr>
      <vt:lpstr>Arial</vt:lpstr>
      <vt:lpstr>Cambria Math</vt:lpstr>
      <vt:lpstr>Office Theme</vt:lpstr>
      <vt:lpstr>Finite Element Method applied to Poisson Equation </vt:lpstr>
      <vt:lpstr>Poisson Equation ∇^2 u=f</vt:lpstr>
      <vt:lpstr>Steady Poisson</vt:lpstr>
      <vt:lpstr>One-Dimensional Spatial Convergence</vt:lpstr>
      <vt:lpstr>Transient Poisson Derivation</vt:lpstr>
      <vt:lpstr>Transient Poisson Derivation, cont.</vt:lpstr>
      <vt:lpstr>Transient Poisson Results</vt:lpstr>
      <vt:lpstr>2D Transient Poisson</vt:lpstr>
      <vt:lpstr>2D Transient Poisson</vt:lpstr>
      <vt:lpstr>2D Transient Poisson</vt:lpstr>
      <vt:lpstr>2D Transient Poisson</vt:lpstr>
      <vt:lpstr>2D Transient Poisson</vt:lpstr>
      <vt:lpstr>2D Transient Poisson</vt:lpstr>
      <vt:lpstr>2D Transient Poisson</vt:lpstr>
      <vt:lpstr>2D Transient Poisson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Logan Freeman</dc:creator>
  <cp:lastModifiedBy>Logan Freeman</cp:lastModifiedBy>
  <cp:revision>7</cp:revision>
  <dcterms:created xsi:type="dcterms:W3CDTF">2025-11-25T21:39:08Z</dcterms:created>
  <dcterms:modified xsi:type="dcterms:W3CDTF">2025-11-25T22:17:04Z</dcterms:modified>
</cp:coreProperties>
</file>